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8" r:id="rId9"/>
    <p:sldId id="262" r:id="rId10"/>
    <p:sldId id="263" r:id="rId11"/>
    <p:sldId id="264" r:id="rId12"/>
    <p:sldId id="265" r:id="rId13"/>
    <p:sldId id="269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719"/>
  </p:normalViewPr>
  <p:slideViewPr>
    <p:cSldViewPr snapToGrid="0" snapToObjects="1">
      <p:cViewPr varScale="1">
        <p:scale>
          <a:sx n="88" d="100"/>
          <a:sy n="88" d="100"/>
        </p:scale>
        <p:origin x="176" y="8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L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875F42-4477-A947-A568-2F18C8741F51}" type="datetimeFigureOut">
              <a:rPr lang="en-LK" smtClean="0"/>
              <a:t>2026-06-19</a:t>
            </a:fld>
            <a:endParaRPr lang="en-L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L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L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5CE499-411A-C04F-A692-DC9B0DF5F9D2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979693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CE499-411A-C04F-A692-DC9B0DF5F9D2}" type="slidenum">
              <a:rPr lang="en-LK" smtClean="0"/>
              <a:t>13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1706916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loodguard-icon-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685800"/>
            <a:ext cx="1554480" cy="1554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468880"/>
            <a:ext cx="103601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FloodGuard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2044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93C5FD"/>
                </a:solidFill>
              </a:rPr>
              <a:t>From Initial-Round Model to a Deployed, AI-Powered MLOps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94A3B8"/>
                </a:solidFill>
              </a:rPr>
              <a:t>ML Opsidian: Genesis — Final Round Submission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94A3B8"/>
                </a:solidFill>
              </a:rPr>
              <a:t>Team: [Add team name]   | 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</a:rPr>
              <a:t>1. Team 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1091672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75569"/>
                </a:solidFill>
              </a:rPr>
              <a:t>1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64240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dirty="0">
                <a:solidFill>
                  <a:srgbClr val="475569"/>
                </a:solidFill>
              </a:rPr>
              <a:t>•  "We are </a:t>
            </a:r>
            <a:r>
              <a:rPr lang="en-US" sz="1800" dirty="0">
                <a:solidFill>
                  <a:srgbClr val="475569"/>
                </a:solidFill>
              </a:rPr>
              <a:t>API4</a:t>
            </a:r>
            <a:r>
              <a:rPr sz="1800" dirty="0">
                <a:solidFill>
                  <a:srgbClr val="475569"/>
                </a:solidFill>
              </a:rPr>
              <a:t>— we turned our Initial Round flood-risk model</a:t>
            </a:r>
            <a:endParaRPr lang="en-US" sz="1800" dirty="0">
              <a:solidFill>
                <a:srgbClr val="475569"/>
              </a:solidFill>
            </a:endParaRPr>
          </a:p>
          <a:p>
            <a:pPr>
              <a:spcAft>
                <a:spcPts val="600"/>
              </a:spcAft>
            </a:pPr>
            <a:r>
              <a:rPr sz="1800" dirty="0">
                <a:solidFill>
                  <a:srgbClr val="475569"/>
                </a:solidFill>
              </a:rPr>
              <a:t> into a deployed, AI-powered product (web + mobile) with full </a:t>
            </a:r>
            <a:r>
              <a:rPr sz="1800" dirty="0" err="1">
                <a:solidFill>
                  <a:srgbClr val="475569"/>
                </a:solidFill>
              </a:rPr>
              <a:t>MLOps</a:t>
            </a:r>
            <a:r>
              <a:rPr sz="1800" dirty="0">
                <a:solidFill>
                  <a:srgbClr val="475569"/>
                </a:solidFill>
              </a:rPr>
              <a:t>."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6988181"/>
              </p:ext>
            </p:extLst>
          </p:nvPr>
        </p:nvGraphicFramePr>
        <p:xfrm>
          <a:off x="700644" y="2240280"/>
          <a:ext cx="5907974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79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endParaRPr sz="1600" b="1" dirty="0">
                        <a:solidFill>
                          <a:srgbClr val="1A1A1A"/>
                        </a:solidFill>
                      </a:endParaRPr>
                    </a:p>
                  </a:txBody>
                  <a:tcPr marL="82296" marR="82296" marT="27432" marB="27432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dirty="0">
                          <a:solidFill>
                            <a:srgbClr val="1A1A1A"/>
                          </a:solidFill>
                        </a:rPr>
                        <a:t>Member</a:t>
                      </a:r>
                    </a:p>
                  </a:txBody>
                  <a:tcPr marL="82296" marR="82296" marT="27432" marB="27432" anchor="ctr"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endParaRPr sz="1600" dirty="0"/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Gehiru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Damnidu</a:t>
                      </a:r>
                      <a:endParaRPr sz="1600" dirty="0"/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endParaRPr sz="1600" dirty="0"/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Malika </a:t>
                      </a:r>
                      <a:r>
                        <a:rPr lang="en-US" sz="1600" dirty="0" err="1"/>
                        <a:t>Nishnatha</a:t>
                      </a:r>
                      <a:endParaRPr sz="1600" dirty="0"/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endParaRPr sz="1600" dirty="0"/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Senash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Adeesha</a:t>
                      </a:r>
                      <a:endParaRPr sz="1600" dirty="0"/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endParaRPr sz="1600" dirty="0"/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Nimssith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Senevirathna</a:t>
                      </a:r>
                      <a:endParaRPr sz="1600" dirty="0"/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212080"/>
            <a:ext cx="11064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dirty="0">
                <a:solidFill>
                  <a:srgbClr val="475569"/>
                </a:solidFill>
              </a:rPr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5A4BB4-094D-472E-033E-FDAA52B6C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7119" y="0"/>
            <a:ext cx="448488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</a:rPr>
              <a:t>2. Problem Understanding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1091672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75569"/>
                </a:solidFill>
              </a:rPr>
              <a:t>2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</a:rPr>
              <a:t>•  Predict a continuous flood_risk_score in [0, 1] for locations across Sri Lanka's 25 districts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</a:rPr>
              <a:t>•  Dataset: 20,886 training rows · 5,300 test rows · 47 columns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11091672" cy="5486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>
                <a:solidFill>
                  <a:srgbClr val="E2E8F0"/>
                </a:solidFill>
                <a:latin typeface="Menlo"/>
              </a:rPr>
              <a:t>score = (0.5 × MAE + 0.5 × RMSE) × (1 + max(0, 1 − explained_variance))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475569"/>
                </a:solidFill>
              </a:rPr>
              <a:t>•  Lower is better — rewards both accuracy AND calibration (matching the variance, not just the mean)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3337560"/>
          <a:ext cx="11091671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998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</a:rPr>
                        <a:t>Category</a:t>
                      </a:r>
                    </a:p>
                  </a:txBody>
                  <a:tcPr marL="82296" marR="82296" marT="27432" marB="27432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</a:rPr>
                        <a:t>Example columns</a:t>
                      </a:r>
                    </a:p>
                  </a:txBody>
                  <a:tcPr marL="82296" marR="82296" marT="27432" marB="27432" anchor="ctr"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300"/>
                        <a:t>Geography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latitude, longitude, district, elevation, distance to river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300"/>
                        <a:t>Climate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7-day &amp; monthly rainfall, drainage index, seasonal index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300"/>
                        <a:t>Land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land cover, soil type, NDVI / NDWI, built-up %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300"/>
                        <a:t>Infrastructure &amp; Socioeconomics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population density, infrastructure score, distance to hospital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300"/>
                        <a:t>Event context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flood occurrence, inundated area, historical flood count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8978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475569"/>
                </a:solidFill>
              </a:rPr>
              <a:t>•  Key insight: district dominates feature importance — district_te is the #1 feature by gain in every model version. The data is synthetic/noisy → ensembling + district-level aggregates win.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</a:rPr>
              <a:t>3. Initial Round Approach — solution_v10.py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1091672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75569"/>
                </a:solidFill>
              </a:rPr>
              <a:t>3 /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423160" cy="17373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300" b="1">
                <a:solidFill>
                  <a:srgbClr val="1A1A1A"/>
                </a:solidFill>
              </a:rPr>
              <a:t>5-Model Ensemble</a:t>
            </a:r>
          </a:p>
          <a:p>
            <a:pPr algn="ctr"/>
            <a:r>
              <a:rPr sz="1050" b="0">
                <a:solidFill>
                  <a:srgbClr val="1A1A1A"/>
                </a:solidFill>
              </a:rPr>
              <a:t>LightGBM · LightGBM-DART</a:t>
            </a:r>
          </a:p>
          <a:p>
            <a:pPr algn="ctr"/>
            <a:r>
              <a:rPr sz="1050" b="0">
                <a:solidFill>
                  <a:srgbClr val="1A1A1A"/>
                </a:solidFill>
              </a:rPr>
              <a:t>CatBoost · XGBoost</a:t>
            </a:r>
          </a:p>
          <a:p>
            <a:pPr algn="ctr"/>
            <a:r>
              <a:rPr sz="1050" b="0">
                <a:solidFill>
                  <a:srgbClr val="1A1A1A"/>
                </a:solidFill>
              </a:rPr>
              <a:t>ExtraTrees (Optuna-tuned)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1965960"/>
            <a:ext cx="502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371600"/>
            <a:ext cx="2423160" cy="17373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300" b="1">
                <a:solidFill>
                  <a:srgbClr val="1A1A1A"/>
                </a:solidFill>
              </a:rPr>
              <a:t>Ridge Meta-Learner</a:t>
            </a:r>
          </a:p>
          <a:p>
            <a:pPr algn="ctr"/>
            <a:r>
              <a:rPr sz="1050" b="0">
                <a:solidFill>
                  <a:srgbClr val="1A1A1A"/>
                </a:solidFill>
              </a:rPr>
              <a:t>Stacks 10-fold × 3-seed</a:t>
            </a:r>
          </a:p>
          <a:p>
            <a:pPr algn="ctr"/>
            <a:r>
              <a:rPr sz="1050" b="0">
                <a:solidFill>
                  <a:srgbClr val="1A1A1A"/>
                </a:solidFill>
              </a:rPr>
              <a:t>OOF predictions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79" y="1965960"/>
            <a:ext cx="502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799" y="1371600"/>
            <a:ext cx="2423160" cy="17373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300" b="1">
                <a:solidFill>
                  <a:srgbClr val="1A1A1A"/>
                </a:solidFill>
              </a:rPr>
              <a:t>Calibration Shift</a:t>
            </a:r>
          </a:p>
          <a:p>
            <a:pPr algn="ctr"/>
            <a:r>
              <a:rPr sz="1050" b="0">
                <a:solidFill>
                  <a:srgbClr val="1A1A1A"/>
                </a:solidFill>
              </a:rPr>
              <a:t>Shift mean to match</a:t>
            </a:r>
          </a:p>
          <a:p>
            <a:pPr algn="ctr"/>
            <a:r>
              <a:rPr sz="1050" b="0">
                <a:solidFill>
                  <a:srgbClr val="1A1A1A"/>
                </a:solidFill>
              </a:rPr>
              <a:t>train target mean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59" y="1965960"/>
            <a:ext cx="502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0" y="1371600"/>
            <a:ext cx="2423160" cy="17373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300" b="1">
                <a:solidFill>
                  <a:srgbClr val="1A1A1A"/>
                </a:solidFill>
              </a:rPr>
              <a:t>Custom Metric</a:t>
            </a:r>
          </a:p>
          <a:p>
            <a:pPr algn="ctr"/>
            <a:r>
              <a:rPr sz="1050" b="0">
                <a:solidFill>
                  <a:srgbClr val="1A1A1A"/>
                </a:solidFill>
              </a:rPr>
              <a:t>≈ 0.383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74720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A1A1A"/>
                </a:solidFill>
              </a:rPr>
              <a:t>•  ~150 engineered features: district stats/quantiles/ranks, KMeans clusters (k = 5, 10, 20), haversine-KNN target stats, target encoding, interaction features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A1A1A"/>
                </a:solidFill>
              </a:rPr>
              <a:t>•  10-fold × 3-seed cross-validation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A1A1A"/>
                </a:solidFill>
              </a:rPr>
              <a:t>•  10 rounds of pseudo-labeling on the test set to squeeze out additional signal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A1A1A"/>
                </a:solidFill>
              </a:rPr>
              <a:t>•  Post-processing: shift the final prediction mean to exactly match the training target mean (the calibration insight that carries through to the Final Round)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</a:rPr>
              <a:t>4. Improvements Made: v10 → FloodGuard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1091672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75569"/>
                </a:solidFill>
              </a:rPr>
              <a:t>4 / 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34440"/>
          <a:ext cx="11091672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71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291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A1A"/>
                          </a:solidFill>
                        </a:rPr>
                        <a:t>v10 (batch)</a:t>
                      </a:r>
                    </a:p>
                  </a:txBody>
                  <a:tcPr marL="82296" marR="82296" marT="27432" marB="27432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A1A"/>
                          </a:solidFill>
                        </a:rPr>
                        <a:t>FloodGuard AI (FeatureEngineer)</a:t>
                      </a:r>
                    </a:p>
                  </a:txBody>
                  <a:tcPr marL="82296" marR="82296" marT="27432" marB="27432" anchor="ctr"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r>
                        <a:rPr sz="1150"/>
                        <a:t>District stats via groupby over all rows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Precomputed per-district lookup table, joined onto new rows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r>
                        <a:rPr sz="1150"/>
                        <a:t>KMeans fit and .predict() on the same data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KMeans models fit once, saved, .predict() on the new row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r>
                        <a:rPr sz="1150"/>
                        <a:t>KNN target stats via BallTree over all rows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Same BallTree, built once at fit time, queried per new row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r>
                        <a:rPr sz="1150"/>
                        <a:t>Target encoding via K-fold OOF means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OOF means for training; full-train means for new rows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r>
                        <a:rPr sz="1150"/>
                        <a:t>*_qmap columns (no raw counterpart)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Empirical monotonic map learned at fit time, np.interp at transform time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294">
                <a:tc>
                  <a:txBody>
                    <a:bodyPr/>
                    <a:lstStyle/>
                    <a:p>
                      <a:r>
                        <a:rPr sz="1150"/>
                        <a:t>Composite indices (seasonal_index, etc.) assumed present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Default to the district mean (or global mean) if the user omits them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977639"/>
            <a:ext cx="11064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</a:rPr>
              <a:t>•  Reduced to a 3-model ensemble (LightGBM + CatBoost + XGBoost), 5-fold CV, fixed hyperparameters, no pseudo-labeling → ~45-second, fully reproducible training run — 223 features, 14 MB of artifacts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</a:rPr>
              <a:t>•  Kept the two highest-leverage ideas: Ridge meta-stacking (weights: lgb=0.229, cat=0.713, xgb=0.134) and mean-calibration shift (shift ≈ 0 — stacked mean already matches the train mean of 0.4780)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</a:rPr>
              <a:t>•  Result: OOF custom metric 0.4071 (vs 0.383 for the heavier Initial Round search) — a documented trade-off of leaderboard score for deployability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</a:rPr>
              <a:t>•  NEW: an AI Risk Advisor (Claude claude-haiku-4-5, with a deterministic template fallback) turns the score + top contributing features into a plain-language report and recommendations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product&#10;&#10;Description automatically generated with medium confidence">
            <a:extLst>
              <a:ext uri="{FF2B5EF4-FFF2-40B4-BE49-F238E27FC236}">
                <a16:creationId xmlns:a16="http://schemas.microsoft.com/office/drawing/2014/main" id="{03C79292-67E1-BF18-1FCA-409E948C78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8300" y="546100"/>
            <a:ext cx="6375400" cy="576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422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</a:rPr>
              <a:t>5.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1091672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75569"/>
                </a:solidFill>
              </a:rPr>
              <a:t>5 / 9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1143000"/>
            <a:ext cx="4574065" cy="4663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32520" y="128016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</a:rPr>
              <a:t>•  One Docker image, one Railway URL serves the REST API, the prediction form, and the monitoring dashboard — judges don't need to set up anything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28346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</a:rPr>
              <a:t>•  A companion Expo / React Native mobile app (Android APK + Expo Go) talks to the same live backend and adds a geolocation-based Live Risk Preview on both clients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452628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</a:rPr>
              <a:t>•  Offline path: src/train.py → MLflow (mlruns/) → models/v1/ artifacts loaded at API startup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diagram&#10;&#10;Description automatically generated">
            <a:extLst>
              <a:ext uri="{FF2B5EF4-FFF2-40B4-BE49-F238E27FC236}">
                <a16:creationId xmlns:a16="http://schemas.microsoft.com/office/drawing/2014/main" id="{75B5C43C-ABF8-E3F2-2F8A-10B068DF2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444" y="-1"/>
            <a:ext cx="10824756" cy="669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877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</a:rPr>
              <a:t>6. MLOps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1091672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75569"/>
                </a:solidFill>
              </a:rPr>
              <a:t>6 / 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34440"/>
          <a:ext cx="1109167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4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</a:rPr>
                        <a:t>Pillar</a:t>
                      </a:r>
                    </a:p>
                  </a:txBody>
                  <a:tcPr marL="82296" marR="82296" marT="27432" marB="27432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</a:rPr>
                        <a:t>What We Built</a:t>
                      </a:r>
                    </a:p>
                  </a:txBody>
                  <a:tcPr marL="82296" marR="82296" marT="27432" marB="27432" anchor="ctr"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300"/>
                        <a:t>Data Pipeline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src/data_validation.py runs schema/null/range checks before training, plus per-request out-of-distribution flags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300"/>
                        <a:t>Model Management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MLflow experiment tracking (mlruns/) logs every run's hyperparameters and metrics; models/v1/metadata.json records feature count, CV metrics, Ridge weights — versioned for v2, v3, …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300"/>
                        <a:t>Deployment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Dockerfile → Railway (railway up), /health readiness check, optional ANTHROPIC_API_KEY; Render documented as an alternative; Android APK via EAS Build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300"/>
                        <a:t>Monitoring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Every prediction logged to SQLite (score, category, latency, OOD flags); /monitoring/stats + /dashboard (Chart.js) auto-refresh every 15s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300"/>
                        <a:t>CI/CD (bonus)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GitHub Actions runs the full pytest suite (feature pipeline, inference, API) and builds the Docker image on every push/PR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</a:rPr>
              <a:t>7. Demonstration (Live + Backup Recording)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1091672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75569"/>
                </a:solidFill>
              </a:rPr>
              <a:t>7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1A1A1A"/>
                </a:solidFill>
              </a:rPr>
              <a:t>•  Landing page (/) — hero, "how it works", live model snapshot from /model/info; the geolocation-based Live Risk Preview shows the risk for the user's own district instantly, no form needed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A1A1A"/>
                </a:solidFill>
              </a:rPr>
              <a:t>•  Prediction flow — fill the form for a flood-prone location → risk gauge, risk category, model breakdown (lgb / cat / xgb), top contributing factors, AI-generated risk report with recommendations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A1A1A"/>
                </a:solidFill>
              </a:rPr>
              <a:t>•  Edge case — submit an out-of-range value (e.g. negative rainfall) → the OOD flag appears in the response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A1A1A"/>
                </a:solidFill>
              </a:rPr>
              <a:t>•  Feedback — rate the prediction with the star widget → POST /feedback → SQLite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A1A1A"/>
                </a:solidFill>
              </a:rPr>
              <a:t>•  Dashboard (/dashboard) — prediction volume, score histogram, category/district breakdowns, latency, and the feedback just submitted, all live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A1A1A"/>
                </a:solidFill>
              </a:rPr>
              <a:t>•  Mobile app (optional) — the same flow on the Android APK / Expo Go, including the geolocation Live Risk Preview on the Home screen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7607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475569"/>
                </a:solidFill>
              </a:rPr>
              <a:t>•  Rehearse this end-to-end against the live Railway URL, not just localhost — and have a screen-recording ready as a fallback if the live demo or network fails.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</a:rPr>
              <a:t>8. Challenges Faced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1091672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75569"/>
                </a:solidFill>
              </a:rPr>
              <a:t>8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</a:pPr>
            <a:r>
              <a:rPr sz="1600">
                <a:solidFill>
                  <a:srgbClr val="1A1A1A"/>
                </a:solidFill>
              </a:rPr>
              <a:t>•  Making a batch feature pipeline servable for one record — v10's district stats, KMeans, KNN, and target encodings were all computed over the entire training set at once; redesigning each as a fit-once / apply-to-one-row component (FeatureEngineer) was the single biggest engineering effort of the Final Round.</a:t>
            </a:r>
          </a:p>
          <a:p>
            <a:pPr>
              <a:spcAft>
                <a:spcPts val="2200"/>
              </a:spcAft>
            </a:pPr>
            <a:r>
              <a:rPr sz="1600">
                <a:solidFill>
                  <a:srgbClr val="1A1A1A"/>
                </a:solidFill>
              </a:rPr>
              <a:t>•  Trading leaderboard score for deployability — dropping pseudo-labeling, 2 of 5 base models, and going from 10-fold × 3-seed to 5-fold cost ~0.024 on the custom metric (0.383 → 0.407) — a deliberate, documented trade-off rather than an oversight.</a:t>
            </a:r>
          </a:p>
          <a:p>
            <a:pPr>
              <a:spcAft>
                <a:spcPts val="2200"/>
              </a:spcAft>
            </a:pPr>
            <a:r>
              <a:rPr sz="1600">
                <a:solidFill>
                  <a:srgbClr val="1A1A1A"/>
                </a:solidFill>
              </a:rPr>
              <a:t>•  Handling "expected" data noise without over-engineering — negative rainfall/distance values produce NaN after log1p(); rather than imputing or dropping rows, we leaned on LightGBM/CatBoost/XGBoost's native NaN handling and added flag_out_of_distribution() so these cases are visible in production rather than silently handled.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</a:rPr>
              <a:t>9. Future Improvements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1091672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75569"/>
                </a:solidFill>
              </a:rPr>
              <a:t>9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64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A1A1A"/>
                </a:solidFill>
              </a:rPr>
              <a:t>•  Periodic retraining as new labeled flood events become available, versioned as models/v2/, v3/, … and compared via the MLflow run history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A1A1A"/>
                </a:solidFill>
              </a:rPr>
              <a:t>•  Lightweight, request-time-feasible pseudo-labeling using accumulated predictions + user feedback as a weak-label source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A1A1A"/>
                </a:solidFill>
              </a:rPr>
              <a:t>•  A model-drift alert (rolling flag_out_of_distribution rate vs. a baseline) surfaced on the dashboard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A1A1A"/>
                </a:solidFill>
              </a:rPr>
              <a:t>•  Expanding the AI Risk Advisor to support Sinhala / Tamil for end users in the regions the model covers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A1A1A"/>
                </a:solidFill>
              </a:rPr>
              <a:t>•  Publishing the mobile app to the Play Store / TestFlight, plus background location + push notifications when a user's district risk crosses a threshold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120640"/>
            <a:ext cx="11091672" cy="11887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>
                <a:solidFill>
                  <a:srgbClr val="E2E8F0"/>
                </a:solidFill>
                <a:latin typeface="Menlo"/>
              </a:rPr>
              <a:t>"FloodGuard AI shows the Initial Round model didn’t just survive the transition to production — its core ideas (ensembling, stacking, calibration) are exactly what made that transition work."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C6777B5-64F4-4200-B099-34168B69F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group of people standing in water&#10;&#10;Description automatically generated">
            <a:extLst>
              <a:ext uri="{FF2B5EF4-FFF2-40B4-BE49-F238E27FC236}">
                <a16:creationId xmlns:a16="http://schemas.microsoft.com/office/drawing/2014/main" id="{05A5473D-F9CE-2BC0-9014-F08AEB6461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97" b="7113"/>
          <a:stretch>
            <a:fillRect/>
          </a:stretch>
        </p:blipFill>
        <p:spPr>
          <a:xfrm>
            <a:off x="20" y="10"/>
            <a:ext cx="12191980" cy="6095990"/>
          </a:xfrm>
          <a:custGeom>
            <a:avLst/>
            <a:gdLst/>
            <a:ahLst/>
            <a:cxnLst/>
            <a:rect l="l" t="t" r="r" b="b"/>
            <a:pathLst>
              <a:path w="12192000" h="6096000">
                <a:moveTo>
                  <a:pt x="7230262" y="5906862"/>
                </a:moveTo>
                <a:lnTo>
                  <a:pt x="7197115" y="5913338"/>
                </a:lnTo>
                <a:lnTo>
                  <a:pt x="7214545" y="5911744"/>
                </a:lnTo>
                <a:cubicBezTo>
                  <a:pt x="7220308" y="5910958"/>
                  <a:pt x="7225785" y="5909624"/>
                  <a:pt x="7230262" y="5906862"/>
                </a:cubicBezTo>
                <a:close/>
                <a:moveTo>
                  <a:pt x="7009120" y="5850263"/>
                </a:moveTo>
                <a:lnTo>
                  <a:pt x="7021563" y="5861355"/>
                </a:lnTo>
                <a:lnTo>
                  <a:pt x="7021563" y="5861354"/>
                </a:lnTo>
                <a:close/>
                <a:moveTo>
                  <a:pt x="7768443" y="5742074"/>
                </a:moveTo>
                <a:lnTo>
                  <a:pt x="7768443" y="5742075"/>
                </a:lnTo>
                <a:lnTo>
                  <a:pt x="7792447" y="5764553"/>
                </a:lnTo>
                <a:cubicBezTo>
                  <a:pt x="7785969" y="5758457"/>
                  <a:pt x="7779301" y="5752361"/>
                  <a:pt x="7768443" y="5742074"/>
                </a:cubicBezTo>
                <a:close/>
                <a:moveTo>
                  <a:pt x="4038748" y="5739955"/>
                </a:moveTo>
                <a:lnTo>
                  <a:pt x="4030517" y="5751599"/>
                </a:lnTo>
                <a:cubicBezTo>
                  <a:pt x="4026230" y="5759505"/>
                  <a:pt x="4021242" y="5765745"/>
                  <a:pt x="4015609" y="5770450"/>
                </a:cubicBezTo>
                <a:lnTo>
                  <a:pt x="3996845" y="5780104"/>
                </a:lnTo>
                <a:cubicBezTo>
                  <a:pt x="4010562" y="5776555"/>
                  <a:pt x="4021944" y="5767411"/>
                  <a:pt x="4030518" y="5751599"/>
                </a:cubicBezTo>
                <a:close/>
                <a:moveTo>
                  <a:pt x="6245343" y="5736549"/>
                </a:moveTo>
                <a:lnTo>
                  <a:pt x="6274406" y="5743345"/>
                </a:lnTo>
                <a:lnTo>
                  <a:pt x="6291247" y="5749662"/>
                </a:lnTo>
                <a:lnTo>
                  <a:pt x="6291385" y="5749714"/>
                </a:lnTo>
                <a:lnTo>
                  <a:pt x="6306284" y="5755552"/>
                </a:lnTo>
                <a:lnTo>
                  <a:pt x="6308075" y="5755968"/>
                </a:lnTo>
                <a:lnTo>
                  <a:pt x="6313855" y="5758133"/>
                </a:lnTo>
                <a:cubicBezTo>
                  <a:pt x="6321454" y="5760521"/>
                  <a:pt x="6329151" y="5762258"/>
                  <a:pt x="6337048" y="5762696"/>
                </a:cubicBezTo>
                <a:lnTo>
                  <a:pt x="6308075" y="5755968"/>
                </a:lnTo>
                <a:lnTo>
                  <a:pt x="6291385" y="5749714"/>
                </a:lnTo>
                <a:lnTo>
                  <a:pt x="6276197" y="5743764"/>
                </a:lnTo>
                <a:lnTo>
                  <a:pt x="6274406" y="5743345"/>
                </a:lnTo>
                <a:lnTo>
                  <a:pt x="6268613" y="5741171"/>
                </a:lnTo>
                <a:cubicBezTo>
                  <a:pt x="6260996" y="5738770"/>
                  <a:pt x="6253273" y="5737013"/>
                  <a:pt x="6245343" y="5736549"/>
                </a:cubicBezTo>
                <a:close/>
                <a:moveTo>
                  <a:pt x="6558837" y="5706717"/>
                </a:moveTo>
                <a:cubicBezTo>
                  <a:pt x="6548970" y="5706068"/>
                  <a:pt x="6539355" y="5706473"/>
                  <a:pt x="6529984" y="5708163"/>
                </a:cubicBezTo>
                <a:lnTo>
                  <a:pt x="6589207" y="5711593"/>
                </a:lnTo>
                <a:cubicBezTo>
                  <a:pt x="6578825" y="5709068"/>
                  <a:pt x="6568705" y="5707366"/>
                  <a:pt x="6558837" y="5706717"/>
                </a:cubicBezTo>
                <a:close/>
                <a:moveTo>
                  <a:pt x="4834454" y="5646059"/>
                </a:moveTo>
                <a:cubicBezTo>
                  <a:pt x="4849504" y="5662538"/>
                  <a:pt x="4866316" y="5668776"/>
                  <a:pt x="4883986" y="5670301"/>
                </a:cubicBezTo>
                <a:lnTo>
                  <a:pt x="4858238" y="5663787"/>
                </a:lnTo>
                <a:cubicBezTo>
                  <a:pt x="4849945" y="5659978"/>
                  <a:pt x="4841980" y="5654298"/>
                  <a:pt x="4834454" y="5646059"/>
                </a:cubicBezTo>
                <a:close/>
                <a:moveTo>
                  <a:pt x="5056443" y="5643725"/>
                </a:moveTo>
                <a:lnTo>
                  <a:pt x="5072588" y="5644505"/>
                </a:lnTo>
                <a:cubicBezTo>
                  <a:pt x="5078053" y="5645963"/>
                  <a:pt x="5083590" y="5648726"/>
                  <a:pt x="5089162" y="5653107"/>
                </a:cubicBezTo>
                <a:cubicBezTo>
                  <a:pt x="5078019" y="5644344"/>
                  <a:pt x="5067015" y="5642058"/>
                  <a:pt x="5056443" y="5643725"/>
                </a:cubicBezTo>
                <a:close/>
                <a:moveTo>
                  <a:pt x="739852" y="5343843"/>
                </a:moveTo>
                <a:cubicBezTo>
                  <a:pt x="733899" y="5350392"/>
                  <a:pt x="728660" y="5358013"/>
                  <a:pt x="724278" y="5365062"/>
                </a:cubicBezTo>
                <a:cubicBezTo>
                  <a:pt x="719849" y="5372206"/>
                  <a:pt x="714527" y="5377552"/>
                  <a:pt x="708621" y="5381222"/>
                </a:cubicBezTo>
                <a:lnTo>
                  <a:pt x="691439" y="5386697"/>
                </a:lnTo>
                <a:lnTo>
                  <a:pt x="708622" y="5381222"/>
                </a:lnTo>
                <a:cubicBezTo>
                  <a:pt x="714527" y="5377552"/>
                  <a:pt x="719849" y="5372206"/>
                  <a:pt x="724279" y="5365062"/>
                </a:cubicBezTo>
                <a:cubicBezTo>
                  <a:pt x="728660" y="5358013"/>
                  <a:pt x="733899" y="5350392"/>
                  <a:pt x="739852" y="5343843"/>
                </a:cubicBezTo>
                <a:close/>
                <a:moveTo>
                  <a:pt x="8934151" y="5275333"/>
                </a:moveTo>
                <a:cubicBezTo>
                  <a:pt x="8940248" y="5280573"/>
                  <a:pt x="8947058" y="5285906"/>
                  <a:pt x="8954249" y="5290264"/>
                </a:cubicBezTo>
                <a:lnTo>
                  <a:pt x="8962389" y="5293563"/>
                </a:lnTo>
                <a:lnTo>
                  <a:pt x="8954250" y="5290264"/>
                </a:lnTo>
                <a:cubicBezTo>
                  <a:pt x="8947058" y="5285906"/>
                  <a:pt x="8940248" y="5280573"/>
                  <a:pt x="8934151" y="5275333"/>
                </a:cubicBezTo>
                <a:close/>
                <a:moveTo>
                  <a:pt x="2314816" y="5273737"/>
                </a:moveTo>
                <a:cubicBezTo>
                  <a:pt x="2309720" y="5274714"/>
                  <a:pt x="2304339" y="5276762"/>
                  <a:pt x="2300909" y="5279143"/>
                </a:cubicBezTo>
                <a:cubicBezTo>
                  <a:pt x="2267856" y="5302385"/>
                  <a:pt x="2242281" y="5314291"/>
                  <a:pt x="2216515" y="5314887"/>
                </a:cubicBezTo>
                <a:cubicBezTo>
                  <a:pt x="2242281" y="5314291"/>
                  <a:pt x="2267856" y="5302385"/>
                  <a:pt x="2300910" y="5279143"/>
                </a:cubicBezTo>
                <a:close/>
                <a:moveTo>
                  <a:pt x="1916629" y="5252000"/>
                </a:moveTo>
                <a:lnTo>
                  <a:pt x="1907132" y="5255330"/>
                </a:lnTo>
                <a:lnTo>
                  <a:pt x="1866619" y="5265015"/>
                </a:lnTo>
                <a:lnTo>
                  <a:pt x="1907133" y="5255330"/>
                </a:lnTo>
                <a:close/>
                <a:moveTo>
                  <a:pt x="2058204" y="5241232"/>
                </a:moveTo>
                <a:cubicBezTo>
                  <a:pt x="2076636" y="5242946"/>
                  <a:pt x="2095174" y="5243803"/>
                  <a:pt x="2108194" y="5255939"/>
                </a:cubicBezTo>
                <a:cubicBezTo>
                  <a:pt x="2095175" y="5243803"/>
                  <a:pt x="2076636" y="5242946"/>
                  <a:pt x="2058204" y="5241232"/>
                </a:cubicBezTo>
                <a:close/>
                <a:moveTo>
                  <a:pt x="0" y="0"/>
                </a:moveTo>
                <a:lnTo>
                  <a:pt x="12191456" y="0"/>
                </a:lnTo>
                <a:lnTo>
                  <a:pt x="12191456" y="873938"/>
                </a:lnTo>
                <a:lnTo>
                  <a:pt x="12192000" y="873938"/>
                </a:lnTo>
                <a:lnTo>
                  <a:pt x="12192000" y="3249107"/>
                </a:lnTo>
                <a:cubicBezTo>
                  <a:pt x="12192000" y="3264730"/>
                  <a:pt x="12192000" y="3274255"/>
                  <a:pt x="12192000" y="3283970"/>
                </a:cubicBezTo>
                <a:lnTo>
                  <a:pt x="12192000" y="3681702"/>
                </a:lnTo>
                <a:lnTo>
                  <a:pt x="12160947" y="3710323"/>
                </a:lnTo>
                <a:cubicBezTo>
                  <a:pt x="12118083" y="3731849"/>
                  <a:pt x="12072360" y="3751282"/>
                  <a:pt x="12026448" y="3770523"/>
                </a:cubicBezTo>
                <a:cubicBezTo>
                  <a:pt x="12013114" y="3776049"/>
                  <a:pt x="11998443" y="3779097"/>
                  <a:pt x="11986443" y="3786526"/>
                </a:cubicBezTo>
                <a:cubicBezTo>
                  <a:pt x="11931195" y="3820436"/>
                  <a:pt x="11877664" y="3857014"/>
                  <a:pt x="11821656" y="3889591"/>
                </a:cubicBezTo>
                <a:cubicBezTo>
                  <a:pt x="11763931" y="3923310"/>
                  <a:pt x="11712304" y="3963126"/>
                  <a:pt x="11672489" y="4017039"/>
                </a:cubicBezTo>
                <a:cubicBezTo>
                  <a:pt x="11635529" y="4067143"/>
                  <a:pt x="11599714" y="4118007"/>
                  <a:pt x="11562947" y="4168300"/>
                </a:cubicBezTo>
                <a:cubicBezTo>
                  <a:pt x="11553613" y="4181065"/>
                  <a:pt x="11545039" y="4196115"/>
                  <a:pt x="11532275" y="4204307"/>
                </a:cubicBezTo>
                <a:cubicBezTo>
                  <a:pt x="11505795" y="4221452"/>
                  <a:pt x="11476838" y="4235359"/>
                  <a:pt x="11448453" y="4249457"/>
                </a:cubicBezTo>
                <a:cubicBezTo>
                  <a:pt x="11424069" y="4261459"/>
                  <a:pt x="11398160" y="4270411"/>
                  <a:pt x="11374346" y="4283366"/>
                </a:cubicBezTo>
                <a:cubicBezTo>
                  <a:pt x="11355296" y="4293655"/>
                  <a:pt x="11338339" y="4307943"/>
                  <a:pt x="11320623" y="4320897"/>
                </a:cubicBezTo>
                <a:cubicBezTo>
                  <a:pt x="11305192" y="4332136"/>
                  <a:pt x="11288238" y="4341852"/>
                  <a:pt x="11275283" y="4355378"/>
                </a:cubicBezTo>
                <a:cubicBezTo>
                  <a:pt x="11243658" y="4388145"/>
                  <a:pt x="11211843" y="4420340"/>
                  <a:pt x="11172600" y="4444536"/>
                </a:cubicBezTo>
                <a:cubicBezTo>
                  <a:pt x="11133927" y="4468538"/>
                  <a:pt x="11097350" y="4495401"/>
                  <a:pt x="11058869" y="4519786"/>
                </a:cubicBezTo>
                <a:cubicBezTo>
                  <a:pt x="11021146" y="4543599"/>
                  <a:pt x="10987046" y="4569697"/>
                  <a:pt x="10967423" y="4611991"/>
                </a:cubicBezTo>
                <a:cubicBezTo>
                  <a:pt x="10958661" y="4630659"/>
                  <a:pt x="10946279" y="4651044"/>
                  <a:pt x="10929704" y="4661903"/>
                </a:cubicBezTo>
                <a:cubicBezTo>
                  <a:pt x="10906081" y="4677334"/>
                  <a:pt x="10876171" y="4682859"/>
                  <a:pt x="10850453" y="4696003"/>
                </a:cubicBezTo>
                <a:cubicBezTo>
                  <a:pt x="10820162" y="4711434"/>
                  <a:pt x="10785111" y="4724770"/>
                  <a:pt x="10764534" y="4749345"/>
                </a:cubicBezTo>
                <a:cubicBezTo>
                  <a:pt x="10746246" y="4771255"/>
                  <a:pt x="10727767" y="4788399"/>
                  <a:pt x="10703573" y="4802305"/>
                </a:cubicBezTo>
                <a:cubicBezTo>
                  <a:pt x="10686617" y="4812022"/>
                  <a:pt x="10674046" y="4829738"/>
                  <a:pt x="10656519" y="4837740"/>
                </a:cubicBezTo>
                <a:cubicBezTo>
                  <a:pt x="10633467" y="4848409"/>
                  <a:pt x="10610225" y="4856791"/>
                  <a:pt x="10590031" y="4873366"/>
                </a:cubicBezTo>
                <a:cubicBezTo>
                  <a:pt x="10569075" y="4890510"/>
                  <a:pt x="10545263" y="4904036"/>
                  <a:pt x="10523354" y="4920039"/>
                </a:cubicBezTo>
                <a:cubicBezTo>
                  <a:pt x="10511734" y="4928611"/>
                  <a:pt x="10502208" y="4939851"/>
                  <a:pt x="10490969" y="4948806"/>
                </a:cubicBezTo>
                <a:cubicBezTo>
                  <a:pt x="10470394" y="4965188"/>
                  <a:pt x="10449438" y="4981191"/>
                  <a:pt x="10428291" y="4996622"/>
                </a:cubicBezTo>
                <a:cubicBezTo>
                  <a:pt x="10407146" y="5012055"/>
                  <a:pt x="10386952" y="5029961"/>
                  <a:pt x="10363709" y="5041201"/>
                </a:cubicBezTo>
                <a:cubicBezTo>
                  <a:pt x="10324086" y="5060251"/>
                  <a:pt x="10280840" y="5071682"/>
                  <a:pt x="10242357" y="5092257"/>
                </a:cubicBezTo>
                <a:cubicBezTo>
                  <a:pt x="10203304" y="5113211"/>
                  <a:pt x="10166536" y="5139503"/>
                  <a:pt x="10131863" y="5167315"/>
                </a:cubicBezTo>
                <a:cubicBezTo>
                  <a:pt x="10104430" y="5189224"/>
                  <a:pt x="10078713" y="5210943"/>
                  <a:pt x="10044230" y="5222182"/>
                </a:cubicBezTo>
                <a:cubicBezTo>
                  <a:pt x="10024990" y="5228470"/>
                  <a:pt x="10004797" y="5242186"/>
                  <a:pt x="9993175" y="5258189"/>
                </a:cubicBezTo>
                <a:cubicBezTo>
                  <a:pt x="9968027" y="5293049"/>
                  <a:pt x="9935832" y="5317626"/>
                  <a:pt x="9899446" y="5338582"/>
                </a:cubicBezTo>
                <a:cubicBezTo>
                  <a:pt x="9850865" y="5366776"/>
                  <a:pt x="9802858" y="5395543"/>
                  <a:pt x="9754088" y="5423166"/>
                </a:cubicBezTo>
                <a:cubicBezTo>
                  <a:pt x="9725323" y="5439551"/>
                  <a:pt x="9696749" y="5456885"/>
                  <a:pt x="9666265" y="5468888"/>
                </a:cubicBezTo>
                <a:cubicBezTo>
                  <a:pt x="9603971" y="5493655"/>
                  <a:pt x="9540152" y="5514799"/>
                  <a:pt x="9477283" y="5537851"/>
                </a:cubicBezTo>
                <a:cubicBezTo>
                  <a:pt x="9456709" y="5545280"/>
                  <a:pt x="9437278" y="5555949"/>
                  <a:pt x="9416321" y="5562426"/>
                </a:cubicBezTo>
                <a:cubicBezTo>
                  <a:pt x="9393650" y="5569475"/>
                  <a:pt x="9369267" y="5571571"/>
                  <a:pt x="9346597" y="5578619"/>
                </a:cubicBezTo>
                <a:cubicBezTo>
                  <a:pt x="9308875" y="5590240"/>
                  <a:pt x="9272298" y="5605101"/>
                  <a:pt x="9234579" y="5616911"/>
                </a:cubicBezTo>
                <a:cubicBezTo>
                  <a:pt x="9161805" y="5639582"/>
                  <a:pt x="9088840" y="5661299"/>
                  <a:pt x="9015878" y="5682826"/>
                </a:cubicBezTo>
                <a:cubicBezTo>
                  <a:pt x="9000257" y="5687399"/>
                  <a:pt x="8983301" y="5687970"/>
                  <a:pt x="8967871" y="5692923"/>
                </a:cubicBezTo>
                <a:cubicBezTo>
                  <a:pt x="8926911" y="5706259"/>
                  <a:pt x="8886142" y="5720736"/>
                  <a:pt x="8845565" y="5735407"/>
                </a:cubicBezTo>
                <a:cubicBezTo>
                  <a:pt x="8820990" y="5744361"/>
                  <a:pt x="8796985" y="5755409"/>
                  <a:pt x="8772219" y="5763982"/>
                </a:cubicBezTo>
                <a:cubicBezTo>
                  <a:pt x="8752407" y="5770840"/>
                  <a:pt x="8732023" y="5776174"/>
                  <a:pt x="8711448" y="5780366"/>
                </a:cubicBezTo>
                <a:cubicBezTo>
                  <a:pt x="8693731" y="5783986"/>
                  <a:pt x="8675253" y="5783603"/>
                  <a:pt x="8657726" y="5787986"/>
                </a:cubicBezTo>
                <a:cubicBezTo>
                  <a:pt x="8610288" y="5799797"/>
                  <a:pt x="8563425" y="5813133"/>
                  <a:pt x="8516369" y="5825705"/>
                </a:cubicBezTo>
                <a:cubicBezTo>
                  <a:pt x="8497511" y="5830659"/>
                  <a:pt x="8478269" y="5834280"/>
                  <a:pt x="8459979" y="5840566"/>
                </a:cubicBezTo>
                <a:cubicBezTo>
                  <a:pt x="8411019" y="5857141"/>
                  <a:pt x="8362822" y="5875999"/>
                  <a:pt x="8313671" y="5891622"/>
                </a:cubicBezTo>
                <a:cubicBezTo>
                  <a:pt x="8272903" y="5904576"/>
                  <a:pt x="8230992" y="5913910"/>
                  <a:pt x="8189651" y="5925341"/>
                </a:cubicBezTo>
                <a:cubicBezTo>
                  <a:pt x="8172124" y="5930295"/>
                  <a:pt x="8155359" y="5937343"/>
                  <a:pt x="8137835" y="5941534"/>
                </a:cubicBezTo>
                <a:cubicBezTo>
                  <a:pt x="8098590" y="5951059"/>
                  <a:pt x="8058774" y="5959059"/>
                  <a:pt x="8019339" y="5968586"/>
                </a:cubicBezTo>
                <a:cubicBezTo>
                  <a:pt x="7996859" y="5974110"/>
                  <a:pt x="7975142" y="5984017"/>
                  <a:pt x="7952280" y="5987637"/>
                </a:cubicBezTo>
                <a:cubicBezTo>
                  <a:pt x="7897987" y="5996209"/>
                  <a:pt x="7843311" y="6002305"/>
                  <a:pt x="7788636" y="6009163"/>
                </a:cubicBezTo>
                <a:cubicBezTo>
                  <a:pt x="7732247" y="6016211"/>
                  <a:pt x="7676047" y="6023642"/>
                  <a:pt x="7619655" y="6029928"/>
                </a:cubicBezTo>
                <a:cubicBezTo>
                  <a:pt x="7588795" y="6033168"/>
                  <a:pt x="7557742" y="6033738"/>
                  <a:pt x="7526880" y="6036786"/>
                </a:cubicBezTo>
                <a:cubicBezTo>
                  <a:pt x="7499828" y="6039455"/>
                  <a:pt x="7472967" y="6044407"/>
                  <a:pt x="7445916" y="6047647"/>
                </a:cubicBezTo>
                <a:cubicBezTo>
                  <a:pt x="7422483" y="6050313"/>
                  <a:pt x="7398860" y="6051837"/>
                  <a:pt x="7375428" y="6054505"/>
                </a:cubicBezTo>
                <a:cubicBezTo>
                  <a:pt x="7337899" y="6058885"/>
                  <a:pt x="7300559" y="6063839"/>
                  <a:pt x="7263220" y="6068411"/>
                </a:cubicBezTo>
                <a:cubicBezTo>
                  <a:pt x="7247599" y="6070126"/>
                  <a:pt x="7231214" y="6074888"/>
                  <a:pt x="7216547" y="6072032"/>
                </a:cubicBezTo>
                <a:cubicBezTo>
                  <a:pt x="7179587" y="6064791"/>
                  <a:pt x="7143199" y="6066887"/>
                  <a:pt x="7106432" y="6071840"/>
                </a:cubicBezTo>
                <a:cubicBezTo>
                  <a:pt x="7093860" y="6073555"/>
                  <a:pt x="7080334" y="6073174"/>
                  <a:pt x="7068141" y="6069936"/>
                </a:cubicBezTo>
                <a:cubicBezTo>
                  <a:pt x="7043184" y="6063457"/>
                  <a:pt x="7018991" y="6054313"/>
                  <a:pt x="6994415" y="6046313"/>
                </a:cubicBezTo>
                <a:cubicBezTo>
                  <a:pt x="6991747" y="6045361"/>
                  <a:pt x="6988509" y="6045169"/>
                  <a:pt x="6985653" y="6044599"/>
                </a:cubicBezTo>
                <a:cubicBezTo>
                  <a:pt x="6969457" y="6041359"/>
                  <a:pt x="6953457" y="6038120"/>
                  <a:pt x="6937263" y="6035263"/>
                </a:cubicBezTo>
                <a:cubicBezTo>
                  <a:pt x="6928501" y="6033738"/>
                  <a:pt x="6919547" y="6033549"/>
                  <a:pt x="6910782" y="6032214"/>
                </a:cubicBezTo>
                <a:cubicBezTo>
                  <a:pt x="6876872" y="6026880"/>
                  <a:pt x="6839534" y="6035834"/>
                  <a:pt x="6810195" y="6012784"/>
                </a:cubicBezTo>
                <a:cubicBezTo>
                  <a:pt x="6791144" y="5997923"/>
                  <a:pt x="6772665" y="6001353"/>
                  <a:pt x="6752283" y="6003639"/>
                </a:cubicBezTo>
                <a:cubicBezTo>
                  <a:pt x="6736851" y="6005353"/>
                  <a:pt x="6721038" y="6004782"/>
                  <a:pt x="6705417" y="6004974"/>
                </a:cubicBezTo>
                <a:cubicBezTo>
                  <a:pt x="6677984" y="6005543"/>
                  <a:pt x="6650551" y="6005735"/>
                  <a:pt x="6623118" y="6006687"/>
                </a:cubicBezTo>
                <a:cubicBezTo>
                  <a:pt x="6614353" y="6007067"/>
                  <a:pt x="6605401" y="6011832"/>
                  <a:pt x="6596828" y="6011070"/>
                </a:cubicBezTo>
                <a:cubicBezTo>
                  <a:pt x="6557201" y="6007449"/>
                  <a:pt x="6517576" y="6001734"/>
                  <a:pt x="6477951" y="5998495"/>
                </a:cubicBezTo>
                <a:cubicBezTo>
                  <a:pt x="6455472" y="5996591"/>
                  <a:pt x="6432420" y="6000209"/>
                  <a:pt x="6410131" y="5997543"/>
                </a:cubicBezTo>
                <a:cubicBezTo>
                  <a:pt x="6384414" y="5994495"/>
                  <a:pt x="6359268" y="5986685"/>
                  <a:pt x="6333739" y="5981920"/>
                </a:cubicBezTo>
                <a:cubicBezTo>
                  <a:pt x="6326691" y="5980589"/>
                  <a:pt x="6318880" y="5982303"/>
                  <a:pt x="6311449" y="5982682"/>
                </a:cubicBezTo>
                <a:cubicBezTo>
                  <a:pt x="6303068" y="5983064"/>
                  <a:pt x="6294876" y="5983826"/>
                  <a:pt x="6286493" y="5984017"/>
                </a:cubicBezTo>
                <a:cubicBezTo>
                  <a:pt x="6260964" y="5984399"/>
                  <a:pt x="6235437" y="5983826"/>
                  <a:pt x="6209909" y="5985161"/>
                </a:cubicBezTo>
                <a:cubicBezTo>
                  <a:pt x="6194288" y="5985922"/>
                  <a:pt x="6177905" y="5993733"/>
                  <a:pt x="6163425" y="5990874"/>
                </a:cubicBezTo>
                <a:cubicBezTo>
                  <a:pt x="6133897" y="5985351"/>
                  <a:pt x="6104368" y="5997733"/>
                  <a:pt x="6074842" y="5987447"/>
                </a:cubicBezTo>
                <a:cubicBezTo>
                  <a:pt x="6065695" y="5984399"/>
                  <a:pt x="6053124" y="5992019"/>
                  <a:pt x="6042072" y="5992399"/>
                </a:cubicBezTo>
                <a:cubicBezTo>
                  <a:pt x="6014449" y="5993351"/>
                  <a:pt x="5986828" y="5993161"/>
                  <a:pt x="5959204" y="5992971"/>
                </a:cubicBezTo>
                <a:cubicBezTo>
                  <a:pt x="5934438" y="5992781"/>
                  <a:pt x="5908719" y="5995447"/>
                  <a:pt x="5884906" y="5990113"/>
                </a:cubicBezTo>
                <a:cubicBezTo>
                  <a:pt x="5859949" y="5984399"/>
                  <a:pt x="5837471" y="5985161"/>
                  <a:pt x="5813275" y="5991637"/>
                </a:cubicBezTo>
                <a:cubicBezTo>
                  <a:pt x="5796702" y="5996019"/>
                  <a:pt x="5779174" y="5996591"/>
                  <a:pt x="5762029" y="5997923"/>
                </a:cubicBezTo>
                <a:cubicBezTo>
                  <a:pt x="5743551" y="5999447"/>
                  <a:pt x="5723166" y="5995447"/>
                  <a:pt x="5706401" y="6001734"/>
                </a:cubicBezTo>
                <a:cubicBezTo>
                  <a:pt x="5656488" y="6020403"/>
                  <a:pt x="5605244" y="6024403"/>
                  <a:pt x="5553045" y="6024403"/>
                </a:cubicBezTo>
                <a:cubicBezTo>
                  <a:pt x="5543518" y="6024403"/>
                  <a:pt x="5533802" y="6021738"/>
                  <a:pt x="5524660" y="6018880"/>
                </a:cubicBezTo>
                <a:cubicBezTo>
                  <a:pt x="5471316" y="6001734"/>
                  <a:pt x="5417784" y="6003257"/>
                  <a:pt x="5363491" y="6013736"/>
                </a:cubicBezTo>
                <a:cubicBezTo>
                  <a:pt x="5352250" y="6016022"/>
                  <a:pt x="5339677" y="6016403"/>
                  <a:pt x="5328438" y="6014118"/>
                </a:cubicBezTo>
                <a:cubicBezTo>
                  <a:pt x="5296812" y="6007449"/>
                  <a:pt x="5266141" y="5996399"/>
                  <a:pt x="5234326" y="5991637"/>
                </a:cubicBezTo>
                <a:cubicBezTo>
                  <a:pt x="5181748" y="5983826"/>
                  <a:pt x="5136216" y="6010115"/>
                  <a:pt x="5089162" y="6027262"/>
                </a:cubicBezTo>
                <a:cubicBezTo>
                  <a:pt x="5044391" y="6043455"/>
                  <a:pt x="5006292" y="6080032"/>
                  <a:pt x="4953328" y="6071840"/>
                </a:cubicBezTo>
                <a:cubicBezTo>
                  <a:pt x="4947996" y="6071078"/>
                  <a:pt x="4942089" y="6076222"/>
                  <a:pt x="4936184" y="6077555"/>
                </a:cubicBezTo>
                <a:cubicBezTo>
                  <a:pt x="4919991" y="6081176"/>
                  <a:pt x="4903799" y="6085555"/>
                  <a:pt x="4887415" y="6087272"/>
                </a:cubicBezTo>
                <a:cubicBezTo>
                  <a:pt x="4867412" y="6089558"/>
                  <a:pt x="4847027" y="6088797"/>
                  <a:pt x="4827024" y="6090701"/>
                </a:cubicBezTo>
                <a:cubicBezTo>
                  <a:pt x="4814165" y="6091844"/>
                  <a:pt x="4801401" y="6093939"/>
                  <a:pt x="4788661" y="6095749"/>
                </a:cubicBezTo>
                <a:lnTo>
                  <a:pt x="4785776" y="6096000"/>
                </a:lnTo>
                <a:lnTo>
                  <a:pt x="4726469" y="6096000"/>
                </a:lnTo>
                <a:lnTo>
                  <a:pt x="4719697" y="6095130"/>
                </a:lnTo>
                <a:cubicBezTo>
                  <a:pt x="4709481" y="6092939"/>
                  <a:pt x="4699289" y="6090320"/>
                  <a:pt x="4689098" y="6088605"/>
                </a:cubicBezTo>
                <a:cubicBezTo>
                  <a:pt x="4660331" y="6083842"/>
                  <a:pt x="4628705" y="6085176"/>
                  <a:pt x="4603368" y="6072984"/>
                </a:cubicBezTo>
                <a:cubicBezTo>
                  <a:pt x="4576318" y="6060029"/>
                  <a:pt x="4550599" y="6054123"/>
                  <a:pt x="4522596" y="6058123"/>
                </a:cubicBezTo>
                <a:cubicBezTo>
                  <a:pt x="4513260" y="6059457"/>
                  <a:pt x="4501257" y="6067459"/>
                  <a:pt x="4497068" y="6075649"/>
                </a:cubicBezTo>
                <a:cubicBezTo>
                  <a:pt x="4487731" y="6093938"/>
                  <a:pt x="4474969" y="6097178"/>
                  <a:pt x="4457632" y="6090890"/>
                </a:cubicBezTo>
                <a:cubicBezTo>
                  <a:pt x="4442581" y="6085555"/>
                  <a:pt x="4424104" y="6082890"/>
                  <a:pt x="4413817" y="6072601"/>
                </a:cubicBezTo>
                <a:cubicBezTo>
                  <a:pt x="4384668" y="6043455"/>
                  <a:pt x="4347518" y="6042503"/>
                  <a:pt x="4311323" y="6034693"/>
                </a:cubicBezTo>
                <a:cubicBezTo>
                  <a:pt x="4289227" y="6029928"/>
                  <a:pt x="4268649" y="6029738"/>
                  <a:pt x="4246551" y="6032976"/>
                </a:cubicBezTo>
                <a:cubicBezTo>
                  <a:pt x="4198546" y="6040216"/>
                  <a:pt x="4151870" y="6029928"/>
                  <a:pt x="4105766" y="6016784"/>
                </a:cubicBezTo>
                <a:cubicBezTo>
                  <a:pt x="4075285" y="6008022"/>
                  <a:pt x="4044043" y="6002687"/>
                  <a:pt x="4013753" y="5993733"/>
                </a:cubicBezTo>
                <a:cubicBezTo>
                  <a:pt x="3991083" y="5986874"/>
                  <a:pt x="3968414" y="5978682"/>
                  <a:pt x="3947648" y="5967634"/>
                </a:cubicBezTo>
                <a:cubicBezTo>
                  <a:pt x="3917546" y="5951440"/>
                  <a:pt x="3891259" y="5927055"/>
                  <a:pt x="3852966" y="5933533"/>
                </a:cubicBezTo>
                <a:cubicBezTo>
                  <a:pt x="3819245" y="5939247"/>
                  <a:pt x="3788766" y="5927247"/>
                  <a:pt x="3757902" y="5915816"/>
                </a:cubicBezTo>
                <a:cubicBezTo>
                  <a:pt x="3735231" y="5907434"/>
                  <a:pt x="3712565" y="5898859"/>
                  <a:pt x="3689131" y="5893526"/>
                </a:cubicBezTo>
                <a:cubicBezTo>
                  <a:pt x="3661315" y="5887239"/>
                  <a:pt x="3629882" y="5889907"/>
                  <a:pt x="3605116" y="5878285"/>
                </a:cubicBezTo>
                <a:cubicBezTo>
                  <a:pt x="3579206" y="5866093"/>
                  <a:pt x="3557682" y="5874285"/>
                  <a:pt x="3534629" y="5877715"/>
                </a:cubicBezTo>
                <a:cubicBezTo>
                  <a:pt x="3497862" y="5883049"/>
                  <a:pt x="3461282" y="5892955"/>
                  <a:pt x="3424135" y="5880382"/>
                </a:cubicBezTo>
                <a:cubicBezTo>
                  <a:pt x="3378986" y="5865141"/>
                  <a:pt x="3334216" y="5848758"/>
                  <a:pt x="3288877" y="5834280"/>
                </a:cubicBezTo>
                <a:cubicBezTo>
                  <a:pt x="3271348" y="5828753"/>
                  <a:pt x="3252492" y="5826467"/>
                  <a:pt x="3234202" y="5823991"/>
                </a:cubicBezTo>
                <a:cubicBezTo>
                  <a:pt x="3216867" y="5821895"/>
                  <a:pt x="3196102" y="5827230"/>
                  <a:pt x="3182763" y="5819229"/>
                </a:cubicBezTo>
                <a:cubicBezTo>
                  <a:pt x="3148472" y="5798655"/>
                  <a:pt x="3113231" y="5788558"/>
                  <a:pt x="3073604" y="5788558"/>
                </a:cubicBezTo>
                <a:cubicBezTo>
                  <a:pt x="3058743" y="5788558"/>
                  <a:pt x="3044264" y="5779984"/>
                  <a:pt x="3029216" y="5778459"/>
                </a:cubicBezTo>
                <a:cubicBezTo>
                  <a:pt x="3008639" y="5776555"/>
                  <a:pt x="2985016" y="5771411"/>
                  <a:pt x="2967110" y="5778651"/>
                </a:cubicBezTo>
                <a:cubicBezTo>
                  <a:pt x="2925008" y="5795797"/>
                  <a:pt x="2890910" y="5781507"/>
                  <a:pt x="2854140" y="5764553"/>
                </a:cubicBezTo>
                <a:cubicBezTo>
                  <a:pt x="2817943" y="5747789"/>
                  <a:pt x="2779842" y="5734455"/>
                  <a:pt x="2741360" y="5723403"/>
                </a:cubicBezTo>
                <a:cubicBezTo>
                  <a:pt x="2726882" y="5719403"/>
                  <a:pt x="2709548" y="5726072"/>
                  <a:pt x="2693543" y="5727405"/>
                </a:cubicBezTo>
                <a:cubicBezTo>
                  <a:pt x="2687827" y="5727786"/>
                  <a:pt x="2681540" y="5728358"/>
                  <a:pt x="2676398" y="5726453"/>
                </a:cubicBezTo>
                <a:cubicBezTo>
                  <a:pt x="2626677" y="5708163"/>
                  <a:pt x="2576191" y="5694257"/>
                  <a:pt x="2522279" y="5703782"/>
                </a:cubicBezTo>
                <a:cubicBezTo>
                  <a:pt x="2517327" y="5704735"/>
                  <a:pt x="2511800" y="5702639"/>
                  <a:pt x="2506847" y="5701305"/>
                </a:cubicBezTo>
                <a:cubicBezTo>
                  <a:pt x="2482652" y="5694447"/>
                  <a:pt x="2459029" y="5683589"/>
                  <a:pt x="2434456" y="5681112"/>
                </a:cubicBezTo>
                <a:cubicBezTo>
                  <a:pt x="2373874" y="5675016"/>
                  <a:pt x="2312915" y="5672538"/>
                  <a:pt x="2251948" y="5668538"/>
                </a:cubicBezTo>
                <a:cubicBezTo>
                  <a:pt x="2248138" y="5668349"/>
                  <a:pt x="2244137" y="5668349"/>
                  <a:pt x="2240710" y="5667014"/>
                </a:cubicBezTo>
                <a:cubicBezTo>
                  <a:pt x="2218229" y="5658822"/>
                  <a:pt x="2198608" y="5661490"/>
                  <a:pt x="2179556" y="5677111"/>
                </a:cubicBezTo>
                <a:cubicBezTo>
                  <a:pt x="2171173" y="5683969"/>
                  <a:pt x="2159743" y="5687589"/>
                  <a:pt x="2149267" y="5691399"/>
                </a:cubicBezTo>
                <a:cubicBezTo>
                  <a:pt x="2133834" y="5697115"/>
                  <a:pt x="2118023" y="5702639"/>
                  <a:pt x="2102021" y="5706259"/>
                </a:cubicBezTo>
                <a:cubicBezTo>
                  <a:pt x="2086208" y="5709688"/>
                  <a:pt x="2069254" y="5714449"/>
                  <a:pt x="2054013" y="5711784"/>
                </a:cubicBezTo>
                <a:cubicBezTo>
                  <a:pt x="2026581" y="5707022"/>
                  <a:pt x="2000479" y="5696353"/>
                  <a:pt x="1973429" y="5689303"/>
                </a:cubicBezTo>
                <a:cubicBezTo>
                  <a:pt x="1964094" y="5686826"/>
                  <a:pt x="1953806" y="5687209"/>
                  <a:pt x="1944092" y="5687017"/>
                </a:cubicBezTo>
                <a:cubicBezTo>
                  <a:pt x="1921800" y="5686447"/>
                  <a:pt x="1898940" y="5691971"/>
                  <a:pt x="1878748" y="5676159"/>
                </a:cubicBezTo>
                <a:cubicBezTo>
                  <a:pt x="1860079" y="5661299"/>
                  <a:pt x="1841216" y="5665680"/>
                  <a:pt x="1821596" y="5676920"/>
                </a:cubicBezTo>
                <a:cubicBezTo>
                  <a:pt x="1807497" y="5684922"/>
                  <a:pt x="1791496" y="5691209"/>
                  <a:pt x="1775684" y="5694257"/>
                </a:cubicBezTo>
                <a:cubicBezTo>
                  <a:pt x="1753965" y="5698447"/>
                  <a:pt x="1732439" y="5700163"/>
                  <a:pt x="1709006" y="5697685"/>
                </a:cubicBezTo>
                <a:cubicBezTo>
                  <a:pt x="1692431" y="5695971"/>
                  <a:pt x="1678904" y="5695209"/>
                  <a:pt x="1665950" y="5685113"/>
                </a:cubicBezTo>
                <a:cubicBezTo>
                  <a:pt x="1663856" y="5683589"/>
                  <a:pt x="1660046" y="5683207"/>
                  <a:pt x="1657188" y="5683399"/>
                </a:cubicBezTo>
                <a:cubicBezTo>
                  <a:pt x="1619658" y="5686637"/>
                  <a:pt x="1582510" y="5684922"/>
                  <a:pt x="1544598" y="5682634"/>
                </a:cubicBezTo>
                <a:cubicBezTo>
                  <a:pt x="1496403" y="5679589"/>
                  <a:pt x="1445725" y="5688541"/>
                  <a:pt x="1404006" y="5720546"/>
                </a:cubicBezTo>
                <a:cubicBezTo>
                  <a:pt x="1397909" y="5725310"/>
                  <a:pt x="1388765" y="5727405"/>
                  <a:pt x="1380762" y="5728549"/>
                </a:cubicBezTo>
                <a:cubicBezTo>
                  <a:pt x="1343044" y="5733501"/>
                  <a:pt x="1305132" y="5736930"/>
                  <a:pt x="1267411" y="5742455"/>
                </a:cubicBezTo>
                <a:cubicBezTo>
                  <a:pt x="1246837" y="5745503"/>
                  <a:pt x="1225310" y="5748170"/>
                  <a:pt x="1206641" y="5756553"/>
                </a:cubicBezTo>
                <a:cubicBezTo>
                  <a:pt x="1188354" y="5764743"/>
                  <a:pt x="1173681" y="5774459"/>
                  <a:pt x="1162823" y="5757315"/>
                </a:cubicBezTo>
                <a:cubicBezTo>
                  <a:pt x="1143394" y="5766459"/>
                  <a:pt x="1126437" y="5774080"/>
                  <a:pt x="1109865" y="5782270"/>
                </a:cubicBezTo>
                <a:cubicBezTo>
                  <a:pt x="1103767" y="5785318"/>
                  <a:pt x="1098623" y="5790272"/>
                  <a:pt x="1092527" y="5793130"/>
                </a:cubicBezTo>
                <a:cubicBezTo>
                  <a:pt x="1086048" y="5796178"/>
                  <a:pt x="1078810" y="5798082"/>
                  <a:pt x="1071762" y="5799607"/>
                </a:cubicBezTo>
                <a:cubicBezTo>
                  <a:pt x="1040327" y="5806465"/>
                  <a:pt x="1008894" y="5812751"/>
                  <a:pt x="977653" y="5820182"/>
                </a:cubicBezTo>
                <a:cubicBezTo>
                  <a:pt x="971554" y="5821705"/>
                  <a:pt x="966411" y="5827801"/>
                  <a:pt x="960887" y="5831801"/>
                </a:cubicBezTo>
                <a:cubicBezTo>
                  <a:pt x="957266" y="5834470"/>
                  <a:pt x="953648" y="5838470"/>
                  <a:pt x="949646" y="5839042"/>
                </a:cubicBezTo>
                <a:cubicBezTo>
                  <a:pt x="919165" y="5843614"/>
                  <a:pt x="888877" y="5848949"/>
                  <a:pt x="858205" y="5851234"/>
                </a:cubicBezTo>
                <a:cubicBezTo>
                  <a:pt x="832486" y="5853138"/>
                  <a:pt x="807719" y="5852568"/>
                  <a:pt x="801053" y="5885715"/>
                </a:cubicBezTo>
                <a:cubicBezTo>
                  <a:pt x="799909" y="5891432"/>
                  <a:pt x="791717" y="5897528"/>
                  <a:pt x="785432" y="5900384"/>
                </a:cubicBezTo>
                <a:cubicBezTo>
                  <a:pt x="767524" y="5908576"/>
                  <a:pt x="748471" y="5914101"/>
                  <a:pt x="730754" y="5922482"/>
                </a:cubicBezTo>
                <a:cubicBezTo>
                  <a:pt x="672650" y="5950488"/>
                  <a:pt x="611880" y="5968205"/>
                  <a:pt x="546917" y="5964966"/>
                </a:cubicBezTo>
                <a:cubicBezTo>
                  <a:pt x="526724" y="5964014"/>
                  <a:pt x="507102" y="5953726"/>
                  <a:pt x="494337" y="5949915"/>
                </a:cubicBezTo>
                <a:cubicBezTo>
                  <a:pt x="457572" y="5964966"/>
                  <a:pt x="426709" y="5979445"/>
                  <a:pt x="394511" y="5990303"/>
                </a:cubicBezTo>
                <a:cubicBezTo>
                  <a:pt x="366127" y="6000019"/>
                  <a:pt x="336408" y="6006115"/>
                  <a:pt x="307259" y="6013163"/>
                </a:cubicBezTo>
                <a:cubicBezTo>
                  <a:pt x="296590" y="6015832"/>
                  <a:pt x="285732" y="6017355"/>
                  <a:pt x="274873" y="6018690"/>
                </a:cubicBezTo>
                <a:cubicBezTo>
                  <a:pt x="240965" y="6022880"/>
                  <a:pt x="205529" y="6012784"/>
                  <a:pt x="172384" y="6028786"/>
                </a:cubicBezTo>
                <a:cubicBezTo>
                  <a:pt x="155046" y="6037168"/>
                  <a:pt x="137898" y="6047265"/>
                  <a:pt x="119613" y="6051647"/>
                </a:cubicBezTo>
                <a:cubicBezTo>
                  <a:pt x="99990" y="6056409"/>
                  <a:pt x="80794" y="6063839"/>
                  <a:pt x="61197" y="6069150"/>
                </a:cubicBezTo>
                <a:lnTo>
                  <a:pt x="544" y="6073921"/>
                </a:lnTo>
                <a:lnTo>
                  <a:pt x="544" y="5946682"/>
                </a:lnTo>
                <a:lnTo>
                  <a:pt x="0" y="5946682"/>
                </a:lnTo>
                <a:lnTo>
                  <a:pt x="0" y="1335314"/>
                </a:lnTo>
                <a:lnTo>
                  <a:pt x="0" y="873938"/>
                </a:lnTo>
                <a:close/>
              </a:path>
            </a:pathLst>
          </a:custGeom>
          <a:effectLst>
            <a:outerShdw blurRad="381000" dist="152400" dir="5400000" algn="t" rotWithShape="0">
              <a:prstClr val="black">
                <a:alpha val="20000"/>
              </a:prstClr>
            </a:outerShdw>
          </a:effec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4252769E-B9F0-4068-A645-5BBEF16E9C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4" y="3296010"/>
            <a:ext cx="12191456" cy="2849976"/>
            <a:chOff x="476" y="-3923157"/>
            <a:chExt cx="10667524" cy="2493729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E12D6AD-7096-45BB-9C02-468B2704C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6" y="-3923156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9953252-97DE-4766-B2F6-E4FDA2FDA6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6" y="-3923157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blipFill dpi="0" rotWithShape="1">
              <a:blip r:embed="rId4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9587AE1-D606-A17D-D034-F0FBCAE2E2DE}"/>
              </a:ext>
            </a:extLst>
          </p:cNvPr>
          <p:cNvSpPr txBox="1"/>
          <p:nvPr/>
        </p:nvSpPr>
        <p:spPr>
          <a:xfrm>
            <a:off x="3875314" y="319314"/>
            <a:ext cx="39333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/>
              <a:t>Thank You</a:t>
            </a:r>
            <a:endParaRPr lang="en-LK" sz="4000" dirty="0"/>
          </a:p>
        </p:txBody>
      </p:sp>
    </p:spTree>
    <p:extLst>
      <p:ext uri="{BB962C8B-B14F-4D97-AF65-F5344CB8AC3E}">
        <p14:creationId xmlns:p14="http://schemas.microsoft.com/office/powerpoint/2010/main" val="6572052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loodguard-icon-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640080"/>
            <a:ext cx="1371600" cy="137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dirty="0">
                <a:solidFill>
                  <a:srgbClr val="FFFFFF"/>
                </a:solidFill>
              </a:rPr>
              <a:t>Thank You —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657600"/>
            <a:ext cx="76169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93C5FD"/>
                </a:solidFill>
              </a:rPr>
              <a:t>GitHub: </a:t>
            </a:r>
            <a:r>
              <a:rPr sz="1600">
                <a:solidFill>
                  <a:srgbClr val="FFFFFF"/>
                </a:solidFill>
              </a:rPr>
              <a:t>github.com/malika1234m/flood-guard-ai</a:t>
            </a:r>
          </a:p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93C5FD"/>
                </a:solidFill>
              </a:rPr>
              <a:t>Live Demo: </a:t>
            </a:r>
            <a:r>
              <a:rPr sz="1600">
                <a:solidFill>
                  <a:srgbClr val="FFFFFF"/>
                </a:solidFill>
              </a:rPr>
              <a:t>floodguard-production.up.railway.app</a:t>
            </a:r>
          </a:p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93C5FD"/>
                </a:solidFill>
              </a:rPr>
              <a:t>Mobile: </a:t>
            </a:r>
            <a:r>
              <a:rPr sz="1600">
                <a:solidFill>
                  <a:srgbClr val="FFFFFF"/>
                </a:solidFill>
              </a:rPr>
              <a:t>Android APK (EAS internal build) — link in README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1503</Words>
  <Application>Microsoft Macintosh PowerPoint</Application>
  <PresentationFormat>Widescreen</PresentationFormat>
  <Paragraphs>121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NISHNATHA T G M it23378520</cp:lastModifiedBy>
  <cp:revision>2</cp:revision>
  <dcterms:created xsi:type="dcterms:W3CDTF">2013-01-27T09:14:16Z</dcterms:created>
  <dcterms:modified xsi:type="dcterms:W3CDTF">2026-06-19T14:23:20Z</dcterms:modified>
  <cp:category/>
</cp:coreProperties>
</file>
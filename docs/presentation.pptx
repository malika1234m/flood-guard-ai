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odguard-icon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685800"/>
            <a:ext cx="1554480" cy="15544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468880"/>
            <a:ext cx="103601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FloodGuard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2044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93C5FD"/>
                </a:solidFill>
              </a:rPr>
              <a:t>From Initial-Round Model to a Deployed, AI-Powered MLOps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94A3B8"/>
                </a:solidFill>
              </a:rPr>
              <a:t>ML Opsidian: Genesis — Final Round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94A3B8"/>
                </a:solidFill>
              </a:rPr>
              <a:t>Team: [Add team name]   | 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</a:rPr>
              <a:t>1. Team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1091672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75569"/>
                </a:solidFill>
              </a:rPr>
              <a:t>1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475569"/>
                </a:solidFill>
              </a:rPr>
              <a:t>•  "We are [Team Name] — we turned our Initial Round flood-risk model into a deployed, AI-powered product (web + mobile) with full MLOps."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0" y="24688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52120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A1A1A"/>
                          </a:solidFill>
                        </a:rPr>
                        <a:t>Role</a:t>
                      </a:r>
                    </a:p>
                  </a:txBody>
                  <a:tcPr marL="82296" marR="82296" marT="27432" marB="27432" anchor="ctr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A1A1A"/>
                          </a:solidFill>
                        </a:rPr>
                        <a:t>Member</a:t>
                      </a:r>
                    </a:p>
                  </a:txBody>
                  <a:tcPr marL="82296" marR="82296" marT="27432" marB="27432" anchor="ctr">
                    <a:solidFill>
                      <a:srgbClr val="EFF6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/>
                        <a:t>ML / Feature Engineering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/>
                        <a:t>[Add name]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/>
                        <a:t>MLOps / Deployment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/>
                        <a:t>[Add name]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/>
                        <a:t>Frontend / AI Advisor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/>
                        <a:t>[Add name]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/>
                        <a:t>Presentation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/>
                        <a:t>[Add name]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475569"/>
                </a:solidFill>
              </a:rPr>
              <a:t>•  Replace the placeholders above with your team's actual names and roles before presenting.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</a:rPr>
              <a:t>2. Problem Understanding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1091672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75569"/>
                </a:solidFill>
              </a:rPr>
              <a:t>2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1A"/>
                </a:solidFill>
              </a:rPr>
              <a:t>•  Predict a continuous flood_risk_score in [0, 1] for locations across Sri Lanka's 25 districts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1A"/>
                </a:solidFill>
              </a:rPr>
              <a:t>•  Dataset: 20,886 training rows · 5,300 test rows · 47 columns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11091672" cy="5486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E2E8F0"/>
                </a:solidFill>
                <a:latin typeface="Menlo"/>
              </a:rPr>
              <a:t>score = (0.5 × MAE + 0.5 × RMSE) × (1 + max(0, 1 − explained_variance))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</a:rPr>
              <a:t>•  Lower is better — rewards both accuracy AND calibration (matching the variance, not just the mean)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337560"/>
          <a:ext cx="11091671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99831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</a:rPr>
                        <a:t>Category</a:t>
                      </a:r>
                    </a:p>
                  </a:txBody>
                  <a:tcPr marL="82296" marR="82296" marT="27432" marB="27432" anchor="ctr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</a:rPr>
                        <a:t>Example columns</a:t>
                      </a:r>
                    </a:p>
                  </a:txBody>
                  <a:tcPr marL="82296" marR="82296" marT="27432" marB="27432" anchor="ctr">
                    <a:solidFill>
                      <a:srgbClr val="EFF6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300"/>
                        <a:t>Geography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/>
                        <a:t>latitude, longitude, district, elevation, distance to river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300"/>
                        <a:t>Climate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/>
                        <a:t>7-day &amp; monthly rainfall, drainage index, seasonal index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300"/>
                        <a:t>Land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/>
                        <a:t>land cover, soil type, NDVI / NDWI, built-up 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300"/>
                        <a:t>Infrastructure &amp; Socioeconomics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/>
                        <a:t>population density, infrastructure score, distance to hospital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300"/>
                        <a:t>Event context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/>
                        <a:t>flood occurrence, inundated area, historical flood count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8978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</a:rPr>
              <a:t>•  Key insight: district dominates feature importance — district_te is the #1 feature by gain in every model version. The data is synthetic/noisy → ensembling + district-level aggregates win.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</a:rPr>
              <a:t>3. Initial Round Approach — solution_v10.py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1091672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75569"/>
                </a:solidFill>
              </a:rPr>
              <a:t>3 /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423160" cy="17373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A1A1A"/>
                </a:solidFill>
              </a:rPr>
              <a:t>5-Model Ensemble</a:t>
            </a:r>
          </a:p>
          <a:p>
            <a:pPr algn="ctr"/>
            <a:r>
              <a:rPr sz="1050" b="0">
                <a:solidFill>
                  <a:srgbClr val="1A1A1A"/>
                </a:solidFill>
              </a:rPr>
              <a:t>LightGBM · LightGBM-DART</a:t>
            </a:r>
          </a:p>
          <a:p>
            <a:pPr algn="ctr"/>
            <a:r>
              <a:rPr sz="1050" b="0">
                <a:solidFill>
                  <a:srgbClr val="1A1A1A"/>
                </a:solidFill>
              </a:rPr>
              <a:t>CatBoost · XGBoost</a:t>
            </a:r>
          </a:p>
          <a:p>
            <a:pPr algn="ctr"/>
            <a:r>
              <a:rPr sz="1050" b="0">
                <a:solidFill>
                  <a:srgbClr val="1A1A1A"/>
                </a:solidFill>
              </a:rPr>
              <a:t>ExtraTrees (Optuna-tuned)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1965960"/>
            <a:ext cx="502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2563EB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371600"/>
            <a:ext cx="2423160" cy="17373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A1A1A"/>
                </a:solidFill>
              </a:rPr>
              <a:t>Ridge Meta-Learner</a:t>
            </a:r>
          </a:p>
          <a:p>
            <a:pPr algn="ctr"/>
            <a:r>
              <a:rPr sz="1050" b="0">
                <a:solidFill>
                  <a:srgbClr val="1A1A1A"/>
                </a:solidFill>
              </a:rPr>
              <a:t>Stacks 10-fold × 3-seed</a:t>
            </a:r>
          </a:p>
          <a:p>
            <a:pPr algn="ctr"/>
            <a:r>
              <a:rPr sz="1050" b="0">
                <a:solidFill>
                  <a:srgbClr val="1A1A1A"/>
                </a:solidFill>
              </a:rPr>
              <a:t>OOF predictions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79" y="1965960"/>
            <a:ext cx="502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2563EB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799" y="1371600"/>
            <a:ext cx="2423160" cy="17373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A1A1A"/>
                </a:solidFill>
              </a:rPr>
              <a:t>Calibration Shift</a:t>
            </a:r>
          </a:p>
          <a:p>
            <a:pPr algn="ctr"/>
            <a:r>
              <a:rPr sz="1050" b="0">
                <a:solidFill>
                  <a:srgbClr val="1A1A1A"/>
                </a:solidFill>
              </a:rPr>
              <a:t>Shift mean to match</a:t>
            </a:r>
          </a:p>
          <a:p>
            <a:pPr algn="ctr"/>
            <a:r>
              <a:rPr sz="1050" b="0">
                <a:solidFill>
                  <a:srgbClr val="1A1A1A"/>
                </a:solidFill>
              </a:rPr>
              <a:t>train target mean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59" y="1965960"/>
            <a:ext cx="502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2563EB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1371600"/>
            <a:ext cx="2423160" cy="17373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A1A1A"/>
                </a:solidFill>
              </a:rPr>
              <a:t>Custom Metric</a:t>
            </a:r>
          </a:p>
          <a:p>
            <a:pPr algn="ctr"/>
            <a:r>
              <a:rPr sz="1050" b="0">
                <a:solidFill>
                  <a:srgbClr val="1A1A1A"/>
                </a:solidFill>
              </a:rPr>
              <a:t>≈ 0.383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74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A1A1A"/>
                </a:solidFill>
              </a:rPr>
              <a:t>•  ~150 engineered features: district stats/quantiles/ranks, KMeans clusters (k = 5, 10, 20), haversine-KNN target stats, target encoding, interaction features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1A"/>
                </a:solidFill>
              </a:rPr>
              <a:t>•  10-fold × 3-seed cross-validation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1A"/>
                </a:solidFill>
              </a:rPr>
              <a:t>•  10 rounds of pseudo-labeling on the test set to squeeze out additional signal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1A"/>
                </a:solidFill>
              </a:rPr>
              <a:t>•  Post-processing: shift the final prediction mean to exactly match the training target mean (the calibration insight that carries through to the Final Round)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</a:rPr>
              <a:t>4. Improvements Made: v10 → FloodGuard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1091672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75569"/>
                </a:solidFill>
              </a:rPr>
              <a:t>4 / 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5971032"/>
              </a:tblGrid>
              <a:tr h="37229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</a:rPr>
                        <a:t>v10 (batch)</a:t>
                      </a:r>
                    </a:p>
                  </a:txBody>
                  <a:tcPr marL="82296" marR="82296" marT="27432" marB="27432" anchor="ctr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</a:rPr>
                        <a:t>FloodGuard AI (FeatureEngineer)</a:t>
                      </a:r>
                    </a:p>
                  </a:txBody>
                  <a:tcPr marL="82296" marR="82296" marT="27432" marB="27432" anchor="ctr">
                    <a:solidFill>
                      <a:srgbClr val="EFF6FF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r>
                        <a:rPr sz="1150"/>
                        <a:t>District stats via groupby over all rows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/>
                        <a:t>Precomputed per-district lookup table, joined onto new rows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r>
                        <a:rPr sz="1150"/>
                        <a:t>KMeans fit and .predict() on the same data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/>
                        <a:t>KMeans models fit once, saved, .predict() on the new row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r>
                        <a:rPr sz="1150"/>
                        <a:t>KNN target stats via BallTree over all rows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/>
                        <a:t>Same BallTree, built once at fit time, queried per new row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r>
                        <a:rPr sz="1150"/>
                        <a:t>Target encoding via K-fold OOF means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/>
                        <a:t>OOF means for training; full-train means for new rows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r>
                        <a:rPr sz="1150"/>
                        <a:t>*_qmap columns (no raw counterpart)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/>
                        <a:t>Empirical monotonic map learned at fit time, np.interp at transform time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2294">
                <a:tc>
                  <a:txBody>
                    <a:bodyPr wrap="square"/>
                    <a:lstStyle/>
                    <a:p>
                      <a:r>
                        <a:rPr sz="1150"/>
                        <a:t>Composite indices (seasonal_index, etc.) assumed present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/>
                        <a:t>Default to the district mean (or global mean) if the user omits them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11064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A1A1A"/>
                </a:solidFill>
              </a:rPr>
              <a:t>•  Reduced to a 3-model ensemble (LightGBM + CatBoost + XGBoost), 5-fold CV, fixed hyperparameters, no pseudo-labeling → ~45-second, fully reproducible training run — 223 features, 14 MB of artifacts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1A1A"/>
                </a:solidFill>
              </a:rPr>
              <a:t>•  Kept the two highest-leverage ideas: Ridge meta-stacking (weights: lgb=0.229, cat=0.713, xgb=0.134) and mean-calibration shift (shift ≈ 0 — stacked mean already matches the train mean of 0.4780)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1A1A"/>
                </a:solidFill>
              </a:rPr>
              <a:t>•  Result: OOF custom metric 0.4071 (vs 0.383 for the heavier Initial Round search) — a documented trade-off of leaderboard score for deployability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1A1A"/>
                </a:solidFill>
              </a:rPr>
              <a:t>•  NEW: an AI Risk Advisor (Claude claude-haiku-4-5, with a deterministic template fallback) turns the score + top contributing features into a plain-language report and recommendations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</a:rPr>
              <a:t>5.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1091672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75569"/>
                </a:solidFill>
              </a:rPr>
              <a:t>5 / 9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1143000"/>
            <a:ext cx="4574065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32520" y="128016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A1A1A"/>
                </a:solidFill>
              </a:rPr>
              <a:t>•  One Docker image, one Railway URL serves the REST API, the prediction form, and the monitoring dashboard — judges don't need to set up anything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28346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A1A1A"/>
                </a:solidFill>
              </a:rPr>
              <a:t>•  A companion Expo / React Native mobile app (Android APK + Expo Go) talks to the same live backend and adds a geolocation-based Live Risk Preview on both clients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52628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A1A1A"/>
                </a:solidFill>
              </a:rPr>
              <a:t>•  Offline path: src/train.py → MLflow (mlruns/) → models/v1/ artifacts loaded at API startup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</a:rPr>
              <a:t>6. MLOps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1091672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75569"/>
                </a:solidFill>
              </a:rPr>
              <a:t>6 / 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14232"/>
              </a:tblGrid>
              <a:tr h="6858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</a:rPr>
                        <a:t>Pillar</a:t>
                      </a:r>
                    </a:p>
                  </a:txBody>
                  <a:tcPr marL="82296" marR="82296" marT="27432" marB="27432" anchor="ctr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</a:rPr>
                        <a:t>What We Built</a:t>
                      </a:r>
                    </a:p>
                  </a:txBody>
                  <a:tcPr marL="82296" marR="82296" marT="27432" marB="27432" anchor="ctr">
                    <a:solidFill>
                      <a:srgbClr val="EFF6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/>
                        <a:t>Data Pipeline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/>
                        <a:t>src/data_validation.py runs schema/null/range checks before training, plus per-request out-of-distribution flags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/>
                        <a:t>Model Management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/>
                        <a:t>MLflow experiment tracking (mlruns/) logs every run's hyperparameters and metrics; models/v1/metadata.json records feature count, CV metrics, Ridge weights — versioned for v2, v3, …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/>
                        <a:t>Deployment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/>
                        <a:t>Dockerfile → Railway (railway up), /health readiness check, optional ANTHROPIC_API_KEY; Render documented as an alternative; Android APK via EAS Build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/>
                        <a:t>Monitoring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/>
                        <a:t>Every prediction logged to SQLite (score, category, latency, OOD flags); /monitoring/stats + /dashboard (Chart.js) auto-refresh every 15s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/>
                        <a:t>CI/CD (bonus)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/>
                        <a:t>GitHub Actions runs the full pytest suite (feature pipeline, inference, API) and builds the Docker image on every push/PR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</a:rPr>
              <a:t>7. Demonstration (Live + Backup Recording)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1091672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75569"/>
                </a:solidFill>
              </a:rPr>
              <a:t>7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1A1A1A"/>
                </a:solidFill>
              </a:rPr>
              <a:t>•  Landing page (/) — hero, "how it works", live model snapshot from /model/info; the geolocation-based Live Risk Preview shows the risk for the user's own district instantly, no form needed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1A1A1A"/>
                </a:solidFill>
              </a:rPr>
              <a:t>•  Prediction flow — fill the form for a flood-prone location → risk gauge, risk category, model breakdown (lgb / cat / xgb), top contributing factors, AI-generated risk report with recommendations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1A1A1A"/>
                </a:solidFill>
              </a:rPr>
              <a:t>•  Edge case — submit an out-of-range value (e.g. negative rainfall) → the OOD flag appears in the response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1A1A1A"/>
                </a:solidFill>
              </a:rPr>
              <a:t>•  Feedback — rate the prediction with the star widget → POST /feedback → SQLite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1A1A1A"/>
                </a:solidFill>
              </a:rPr>
              <a:t>•  Dashboard (/dashboard) — prediction volume, score histogram, category/district breakdowns, latency, and the feedback just submitted, all live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1A1A1A"/>
                </a:solidFill>
              </a:rPr>
              <a:t>•  Mobile app (optional) — the same flow on the Android APK / Expo Go, including the geolocation Live Risk Preview on the Home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475569"/>
                </a:solidFill>
              </a:rPr>
              <a:t>•  Rehearse this end-to-end against the live Railway URL, not just localhost — and have a screen-recording ready as a fallback if the live demo or network fails.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</a:rPr>
              <a:t>8. Challenges Faced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1091672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75569"/>
                </a:solidFill>
              </a:rPr>
              <a:t>8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1600">
                <a:solidFill>
                  <a:srgbClr val="1A1A1A"/>
                </a:solidFill>
              </a:rPr>
              <a:t>•  Making a batch feature pipeline servable for one record — v10's district stats, KMeans, KNN, and target encodings were all computed over the entire training set at once; redesigning each as a fit-once / apply-to-one-row component (FeatureEngineer) was the single biggest engineering effort of the Final Round.</a:t>
            </a:r>
          </a:p>
          <a:p>
            <a:pPr>
              <a:spcAft>
                <a:spcPts val="2200"/>
              </a:spcAft>
            </a:pPr>
            <a:r>
              <a:rPr sz="1600">
                <a:solidFill>
                  <a:srgbClr val="1A1A1A"/>
                </a:solidFill>
              </a:rPr>
              <a:t>•  Trading leaderboard score for deployability — dropping pseudo-labeling, 2 of 5 base models, and going from 10-fold × 3-seed to 5-fold cost ~0.024 on the custom metric (0.383 → 0.407) — a deliberate, documented trade-off rather than an oversight.</a:t>
            </a:r>
          </a:p>
          <a:p>
            <a:pPr>
              <a:spcAft>
                <a:spcPts val="2200"/>
              </a:spcAft>
            </a:pPr>
            <a:r>
              <a:rPr sz="1600">
                <a:solidFill>
                  <a:srgbClr val="1A1A1A"/>
                </a:solidFill>
              </a:rPr>
              <a:t>•  Handling "expected" data noise without over-engineering — negative rainfall/distance values produce NaN after log1p(); rather than imputing or dropping rows, we leaned on LightGBM/CatBoost/XGBoost's native NaN handling and added flag_out_of_distribution() so these cases are visible in production rather than silently handled.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</a:rPr>
              <a:t>9. Future Improvements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1091672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44652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75569"/>
                </a:solidFill>
              </a:rPr>
              <a:t>9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A1A1A"/>
                </a:solidFill>
              </a:rPr>
              <a:t>•  Periodic retraining as new labeled flood events become available, versioned as models/v2/, v3/, … and compared via the MLflow run history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1A"/>
                </a:solidFill>
              </a:rPr>
              <a:t>•  Lightweight, request-time-feasible pseudo-labeling using accumulated predictions + user feedback as a weak-label source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1A"/>
                </a:solidFill>
              </a:rPr>
              <a:t>•  A model-drift alert (rolling flag_out_of_distribution rate vs. a baseline) surfaced on the dashboard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1A"/>
                </a:solidFill>
              </a:rPr>
              <a:t>•  Expanding the AI Risk Advisor to support Sinhala / Tamil for end users in the regions the model covers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1A"/>
                </a:solidFill>
              </a:rPr>
              <a:t>•  Publishing the mobile app to the Play Store / TestFlight, plus background location + push notifications when a user's district risk crosses a threshold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120640"/>
            <a:ext cx="11091672" cy="11887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E2E8F0"/>
                </a:solidFill>
                <a:latin typeface="Menlo"/>
              </a:rPr>
              <a:t>"FloodGuard AI shows the Initial Round model didn’t just survive the transition to production — its core ideas (ensembling, stacking, calibration) are exactly what made that transition work."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odguard-icon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64008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Thank You —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657600"/>
            <a:ext cx="76169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93C5FD"/>
                </a:solidFill>
              </a:rPr>
              <a:t>GitHub: </a:t>
            </a:r>
            <a:r>
              <a:rPr sz="1600">
                <a:solidFill>
                  <a:srgbClr val="FFFFFF"/>
                </a:solidFill>
              </a:rPr>
              <a:t>github.com/malika1234m/flood-guard-ai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93C5FD"/>
                </a:solidFill>
              </a:rPr>
              <a:t>Live Demo: </a:t>
            </a:r>
            <a:r>
              <a:rPr sz="1600">
                <a:solidFill>
                  <a:srgbClr val="FFFFFF"/>
                </a:solidFill>
              </a:rPr>
              <a:t>floodguard-production.up.railway.app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93C5FD"/>
                </a:solidFill>
              </a:rPr>
              <a:t>Mobile: </a:t>
            </a:r>
            <a:r>
              <a:rPr sz="1600">
                <a:solidFill>
                  <a:srgbClr val="FFFFFF"/>
                </a:solidFill>
              </a:rPr>
              <a:t>Android APK (EAS internal build) — link in README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